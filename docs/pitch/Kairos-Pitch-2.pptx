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Presentarse y dar la frase de arranque: lo que golpea el fenómeno rara vez es lo caro; lo caro es lo que ese golpe arrastra. Ese es el hilo de todo el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 A. El árbol de problemas del Taller 1 daba el planteamiento; la entrevista de campo lo corrigió. Insistir en la corrección: no competimos vendiendo datos, el IDEAM ya los regala. Competimos traduciéndolos.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 B. Las tres cifras van en orden: el evento que abrió la ventana, el tamaño de la exposición, y la plata que se recupera al prevenir. La tarjeta de abajo es el remate y repite la tesis.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 C. Lo importante no es el número de empresas sino que quien sufre el problema no es quien firma la compra: eso define cómo se vende y por qué el producto tiene que hablar en pesos.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 G. Los tres pasos son el recorrido literal del prototipo, así que la demo se puede seguir en el mismo orden. La franja oscura es la respuesta a «qué hace único al proyecto» de la lámina del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 H. Aquí se hace la demo en vivo si hay internet: kairos-prototipo.vercel.app/simulacion?caidos=subest-f abre esta misma pantalla ya armada. El punto que tiene que quedar: 240 millones tumban 5.600.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 I. Es el flanco más débil y conviene decirlo antes de que lo pregunten: decir qué cambió por la entrevista demuestra que sirvió, y admitir lo que falta con un plan concreto vale más que inflar la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 F. Este es el criterio que se gana enseñando el sistema de rótulos, no citando fuentes en una lista. El argumento: no presentamos un dato inventado como oficial, y quien nos evalúa puede verificar cuál es cuál en la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Rematar con el Factor WOW tal como está en la lámina y dejar la URL en pantalla mientras responden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40000">
            <a:off x="548640" y="1371600"/>
            <a:ext cx="231343" cy="1005840"/>
          </a:xfrm>
          <a:prstGeom prst="roundRect">
            <a:avLst>
              <a:gd name="adj" fmla="val 7905"/>
            </a:avLst>
          </a:prstGeom>
          <a:solidFill>
            <a:srgbClr val="C4372A"/>
          </a:solidFill>
          <a:ln w="12700">
            <a:solidFill>
              <a:srgbClr val="C43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971093" y="1371600"/>
            <a:ext cx="231343" cy="1005840"/>
          </a:xfrm>
          <a:prstGeom prst="roundRect">
            <a:avLst>
              <a:gd name="adj" fmla="val 7905"/>
            </a:avLst>
          </a:prstGeom>
          <a:solidFill>
            <a:srgbClr val="A8710C"/>
          </a:solidFill>
          <a:ln w="12700">
            <a:solidFill>
              <a:srgbClr val="A871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93546" y="1371600"/>
            <a:ext cx="231343" cy="1005840"/>
          </a:xfrm>
          <a:prstGeom prst="roundRect">
            <a:avLst>
              <a:gd name="adj" fmla="val 7905"/>
            </a:avLst>
          </a:prstGeom>
          <a:solidFill>
            <a:srgbClr val="3D9168"/>
          </a:solidFill>
          <a:ln w="12700">
            <a:solidFill>
              <a:srgbClr val="3D91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743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Kairos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digital de riesgos por fenómenos naturales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805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8B95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golpea el fenómeno rara vez es lo caro.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8B95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caro es lo que ese golpe arrastra.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 No. 2 · Presentación de la Solución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ISIS 2007 — Diseño de Productos e Innovación con TI · Grupo 1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María Alejandra Rodríguez · Samuel Montoya · Antonio Muñoz · Juan Camilo Solano · Raúl Ruiz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4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 A · EL PROBLEMA ESTÁ BIEN DEFINIDO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dato existe. La decisión, no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árbol de problemas lo planteó; la validación en campo lo corrigió.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2040000">
            <a:off x="110733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C4372A"/>
          </a:solidFill>
          <a:ln w="12700">
            <a:solidFill>
              <a:srgbClr val="C43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60000">
            <a:off x="112346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A8710C"/>
          </a:solidFill>
          <a:ln w="12700">
            <a:solidFill>
              <a:srgbClr val="A871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959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2C6446"/>
          </a:solidFill>
          <a:ln w="12700">
            <a:solidFill>
              <a:srgbClr val="2C6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65376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Colombia los mecanismos para reportar y alertar sobre fenómenos naturales están poco integrados entre sí y son poco accesibles. Eso retrasa la identificación temprana de la amenaza y limita la respuesta coordinada de empresas y autoridades.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19856"/>
            <a:ext cx="5943600" cy="2286000"/>
          </a:xfrm>
          <a:prstGeom prst="rect">
            <a:avLst/>
          </a:prstGeom>
          <a:solidFill>
            <a:srgbClr val="F6E7E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4845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4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VALIDACIÓN LO PRECISÓ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68496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 falta de información: es falta de traducción. La empresa ya maneja análisis detallados de fenómenos naturales, pero son generales y no aplican a las regiones donde opera.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0" y="1865376"/>
            <a:ext cx="4754880" cy="1097280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14032" y="20482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CAUSAS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114032" y="2322576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fragmentadas · sistemas sin integrar · bajo acceso a herramientas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3236976"/>
            <a:ext cx="4754880" cy="1097280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14032" y="34198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4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14032" y="3694176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producen, pero no llegan como decisión a una sede concreta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0" y="4608576"/>
            <a:ext cx="4754880" cy="1097280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14032" y="47914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A87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EFECTOS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5065776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tardías · daño evitable a infraestructura · menor capacidad de respuesta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459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Kairos · Pitch No. 2 · Grupo 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725912" y="63459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4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 B · EL PROBLEMA ES IMPORTANTE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 riesgo teórico, y ya tiene precio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cifras: el evento que abrió la ventana, la exposición del país y lo que se recupera al prevenir.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2040000">
            <a:off x="110733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C4372A"/>
          </a:solidFill>
          <a:ln w="12700">
            <a:solidFill>
              <a:srgbClr val="C43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60000">
            <a:off x="112346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A8710C"/>
          </a:solidFill>
          <a:ln w="12700">
            <a:solidFill>
              <a:srgbClr val="A871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959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2C6446"/>
          </a:solidFill>
          <a:ln w="12700">
            <a:solidFill>
              <a:srgbClr val="2C6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65376"/>
            <a:ext cx="3514344" cy="2286000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103120"/>
            <a:ext cx="300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AGOSTO DE 2026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377440"/>
            <a:ext cx="300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182112"/>
            <a:ext cx="3002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 del sismo más fuerte registrado en Colombia en más de un siglo. Dejó cientos de víctimas y daños graves en infraestructura y comunicaciones.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37304" y="1865376"/>
            <a:ext cx="3514344" cy="2286000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3336" y="2103120"/>
            <a:ext cx="300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EXPOSICIÓN DEL PAÍS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93336" y="2377440"/>
            <a:ext cx="300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7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 de 100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593336" y="3182112"/>
            <a:ext cx="3002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Colombianos que viven en zona de riesgo sísmico alto o medio, según la propuesta legislativa presentada tras el sismo.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25968" y="1865376"/>
            <a:ext cx="3514344" cy="2286000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82000" y="2103120"/>
            <a:ext cx="300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ESTÁ EN JUEGO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382000" y="2377440"/>
            <a:ext cx="300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64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15 %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8382000" y="3182112"/>
            <a:ext cx="3002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costo por incidente en organizaciones con programa de continuidad, y 78 días menos para identificarlo y contenerlo (IBM / Ponemon).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25696"/>
            <a:ext cx="11091672" cy="1371600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60857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Servicio Geológico Colombiano tiene más de 200 estaciones sísmicas activas, y el país no cuenta con una red pública de alerta temprana.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2852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existe la orden legal ni el puente tecnológico» para convertir ese dato en una alarma en el celular. — Senado de la República, agosto de 2026. El problema no es la falta de datos: es que nadie los traduce.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459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Kairos · Pitch No. 2 · Grupo 1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725912" y="63459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4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 C · SE IDENTIFICÓ AL CLIENTE AFECTADO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Quien sufre el problema no es quien firma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medianas y grandes con activos físicos expuestos, en cinco sectores.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2040000">
            <a:off x="110733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C4372A"/>
          </a:solidFill>
          <a:ln w="12700">
            <a:solidFill>
              <a:srgbClr val="C43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60000">
            <a:off x="112346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A8710C"/>
          </a:solidFill>
          <a:ln w="12700">
            <a:solidFill>
              <a:srgbClr val="A871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959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2C6446"/>
          </a:solidFill>
          <a:ln w="12700">
            <a:solidFill>
              <a:srgbClr val="2C6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65376"/>
            <a:ext cx="5760720" cy="3931920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12140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1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ARQUETIPO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4140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 mediana o grande con activos físicos críticos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099816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agrícola, agropecuario, transporte, minero-energético e hidroeléctrico.</a:t>
            </a:r>
            <a:endParaRPr lang="en-US" sz="135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sufre el problema: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responsable de gestión de riesgos, continuidad, operaciones o HSEQ.</a:t>
            </a:r>
            <a:endParaRPr lang="en-US" sz="135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firma: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gerente general o el financiero; en empresas grandes pasa además por comité según el monto.</a:t>
            </a:r>
            <a:endParaRPr lang="en-US" sz="135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dolor: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día de retraso puede volver inutilizable todo el producto perecedero.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18470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CUÁNTOS SON — EMPRESAS GRANDES POR SECTOR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2212848"/>
            <a:ext cx="2286000" cy="1188720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24140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1.920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235440" y="2212848"/>
            <a:ext cx="2286000" cy="1188720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64040" y="24140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756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464040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20840" y="3630168"/>
            <a:ext cx="2286000" cy="1188720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38313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393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Agropecuario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235440" y="3630168"/>
            <a:ext cx="2286000" cy="1188720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64040" y="38313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946404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Minero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5175504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«Las 10.000 empresas más grandes de Colombia 2024», Colfirma. Son el techo del segmento inicial, no el mercado total.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459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Kairos · Pitch No. 2 · Grupo 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25912" y="63459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4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 G · LA SOLUCIÓN PROPUESTA ES CLARA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Mapear, cuantificar, priorizar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jerga y sin pedirle al cliente que aprenda a leer un dato meteorológico.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2040000">
            <a:off x="110733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C4372A"/>
          </a:solidFill>
          <a:ln w="12700">
            <a:solidFill>
              <a:srgbClr val="C43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60000">
            <a:off x="112346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A8710C"/>
          </a:solidFill>
          <a:ln w="12700">
            <a:solidFill>
              <a:srgbClr val="A871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959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2C6446"/>
          </a:solidFill>
          <a:ln w="12700">
            <a:solidFill>
              <a:srgbClr val="2C6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65376"/>
            <a:ext cx="3514344" cy="2514600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139696"/>
            <a:ext cx="566928" cy="566928"/>
          </a:xfrm>
          <a:prstGeom prst="ellipse">
            <a:avLst/>
          </a:prstGeom>
          <a:solidFill>
            <a:srgbClr val="1B4A7A"/>
          </a:solidFill>
          <a:ln w="12700">
            <a:solidFill>
              <a:srgbClr val="1B4A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21284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852928"/>
            <a:ext cx="2929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32841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arma la réplica de sus sedes: edificios, cultivos, subestaciones, y qué depende de qué.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37304" y="1865376"/>
            <a:ext cx="3514344" cy="2514600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9912" y="2139696"/>
            <a:ext cx="566928" cy="566928"/>
          </a:xfrm>
          <a:prstGeom prst="ellipse">
            <a:avLst/>
          </a:prstGeom>
          <a:solidFill>
            <a:srgbClr val="A8710C"/>
          </a:solidFill>
          <a:ln w="12700">
            <a:solidFill>
              <a:srgbClr val="A871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29912" y="221284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629912" y="2852928"/>
            <a:ext cx="2929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Cuantificar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629912" y="332841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fenómeno se cruza con cada activo. La salida son dos cifras: activos comprometidos y pesos que se perderían.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25968" y="1865376"/>
            <a:ext cx="3514344" cy="2514600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8576" y="2139696"/>
            <a:ext cx="566928" cy="566928"/>
          </a:xfrm>
          <a:prstGeom prst="ellipse">
            <a:avLst/>
          </a:prstGeom>
          <a:solidFill>
            <a:srgbClr val="2C6446"/>
          </a:solidFill>
          <a:ln w="12700">
            <a:solidFill>
              <a:srgbClr val="2C64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8576" y="221284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418576" y="2852928"/>
            <a:ext cx="2929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Priorizar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418576" y="332841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presupuesto dado, la plataforma ordena en qué invertir primero según cuánta pérdida evita cada peso.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654296"/>
            <a:ext cx="11091672" cy="1207008"/>
          </a:xfrm>
          <a:prstGeom prst="rect">
            <a:avLst/>
          </a:prstGeom>
          <a:solidFill>
            <a:srgbClr val="16191D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846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A87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LO HACE ÚNICO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5157216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0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mandar boletines o alertas sin convertirlos en decisiones, Kairos personaliza el análisis por lugar, activo y tipo de fenómeno. No solo alerta: prioriza en qué invertir según el retorno esperado.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459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Kairos · Pitch No. 2 · Grupo 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25912" y="63459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4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 H · LA SOLUCIÓN RESOLVERÍA EL PROBLEMA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Caiga la subestación y mire qué arrastra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funcionando, no un mockup: las cifras se recalculan al marcar la instalación.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2040000">
            <a:off x="110733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C4372A"/>
          </a:solidFill>
          <a:ln w="12700">
            <a:solidFill>
              <a:srgbClr val="C43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60000">
            <a:off x="112346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A8710C"/>
          </a:solidFill>
          <a:ln w="12700">
            <a:solidFill>
              <a:srgbClr val="A871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959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2C6446"/>
          </a:solidFill>
          <a:ln w="12700">
            <a:solidFill>
              <a:srgbClr val="2C6446"/>
            </a:solidFill>
            <a:prstDash val="solid"/>
          </a:ln>
        </p:spPr>
      </p:sp>
      <p:pic>
        <p:nvPicPr>
          <p:cNvPr id="8" name="Image 0" descr="/private/tmp/claude-501/-Users-raul-Documents-PMC-kairos-prototipo/bb49c842-2266-47b4-8ed5-76406fa3c84b/scratchpad/deck/cascada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65376"/>
            <a:ext cx="6766560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43800" y="1865376"/>
            <a:ext cx="4096512" cy="1335024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81544" y="20116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GOLPE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81544" y="2249424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4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$ 240 M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7781544" y="2670048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la subestación eléctrica: el 3,5 % del valor asegurable de la sede.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543800" y="3236976"/>
            <a:ext cx="4096512" cy="1335024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81544" y="33832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ARRASTRA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81544" y="3621024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87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$ 5.600 M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7781544" y="4041648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invernaderos y riego que se detienen sin haber recibido un rasguño. Ninguna póliza sobre el activo caído los cubre.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543800" y="4608576"/>
            <a:ext cx="4096512" cy="1335024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81544" y="47548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 QUE HABILITA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781544" y="4992624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64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 años</a:t>
            </a:r>
            <a:endParaRPr lang="en-US" sz="2700" dirty="0"/>
          </a:p>
        </p:txBody>
      </p:sp>
      <p:sp>
        <p:nvSpPr>
          <p:cNvPr id="20" name="Text 17"/>
          <p:cNvSpPr txBox="1"/>
          <p:nvPr/>
        </p:nvSpPr>
        <p:spPr>
          <a:xfrm>
            <a:off x="7781544" y="5413248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recuperar una inversión de $ 800 M que evita $ 583 M de pérdida esperada al año.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90702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la empresa demo: ilustrativas y rotuladas como tales dentro de la plataforma.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459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Kairos · Pitch No. 2 · Grupo 1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725912" y="63459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4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 I · LA SOLUCIÓN FUE VALIDADA CON CLIENTES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entrevista cambió el producto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del sector floricultor. Lo que confirmó, y lo que todavía no alcanza.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2040000">
            <a:off x="110733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C4372A"/>
          </a:solidFill>
          <a:ln w="12700">
            <a:solidFill>
              <a:srgbClr val="C43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60000">
            <a:off x="112346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A8710C"/>
          </a:solidFill>
          <a:ln w="12700">
            <a:solidFill>
              <a:srgbClr val="A871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959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2C6446"/>
          </a:solidFill>
          <a:ln w="12700">
            <a:solidFill>
              <a:srgbClr val="2C6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65376"/>
            <a:ext cx="5623560" cy="3200400"/>
          </a:xfrm>
          <a:prstGeom prst="rect">
            <a:avLst/>
          </a:prstGeom>
          <a:solidFill>
            <a:srgbClr val="E4EEE7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0848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2C64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LA VALIDACIÓN CONFIRMÓ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432304"/>
            <a:ext cx="5029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hipótesis central se sostuvo: la empresa ya tiene análisis de fenómenos naturales, pero son generales y no aplican a sus regiones de operación.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Cambió el diseño del producto: apareció la tormenta eléctrica, una amenaza que no teníamos mapeada. Definir el catálogo desde afuera era un error de método.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el catálogo de fenómenos hoy se configura por sede, y no viene fijo de fábrica.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1865376"/>
            <a:ext cx="5029200" cy="3200400"/>
          </a:xfrm>
          <a:prstGeom prst="rect">
            <a:avLst/>
          </a:prstGeom>
          <a:solidFill>
            <a:srgbClr val="F6EDDB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76288" y="208483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A87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TODAVÍA FALTA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76288" y="2432304"/>
            <a:ext cx="4480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entrevista no basta. No obtuvimos cifra concreta de pérdida, ni rango de lo que pagarían, ni el nombre de quien aprueba la compra.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cubrir los otros cuatro sectores, que se comportan distinto entre sí.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entre 8 y 10 entrevistas, con el foco puesto en obtener esas tres cosas.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29437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560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momento juega a favor: el sismo de agosto y el fenómeno de El Niño previsto para el segundo semestre son justamente los detonantes que abren la ventana en que las empresas deciden invertir en prevención. Esa ventana no dura mucho.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459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Kairos · Pitch No. 2 · Grupo 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25912" y="63459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4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 F · LOS DATOS DE SOPORTE SON COHERENTES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cifra dice de dónde salió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prototipo ya está en línea: cualquiera con el enlace lo recorre completo.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2040000">
            <a:off x="110733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C4372A"/>
          </a:solidFill>
          <a:ln w="12700">
            <a:solidFill>
              <a:srgbClr val="C43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60000">
            <a:off x="112346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A8710C"/>
          </a:solidFill>
          <a:ln w="12700">
            <a:solidFill>
              <a:srgbClr val="A871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95984" y="402336"/>
            <a:ext cx="88331" cy="384048"/>
          </a:xfrm>
          <a:prstGeom prst="roundRect">
            <a:avLst>
              <a:gd name="adj" fmla="val 20704"/>
            </a:avLst>
          </a:prstGeom>
          <a:solidFill>
            <a:srgbClr val="2C6446"/>
          </a:solidFill>
          <a:ln w="12700">
            <a:solidFill>
              <a:srgbClr val="2C6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65376"/>
            <a:ext cx="5577840" cy="1170432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139696"/>
            <a:ext cx="146304" cy="146304"/>
          </a:xfrm>
          <a:prstGeom prst="ellipse">
            <a:avLst/>
          </a:prstGeom>
          <a:solidFill>
            <a:srgbClr val="2C6446"/>
          </a:solidFill>
          <a:ln w="12700">
            <a:solidFill>
              <a:srgbClr val="2C6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0704" y="20665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64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vivo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41401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 de una API pública en este momento. Sismos del USGS con la distancia a cada sede; clima de Open-Meteo por las coordenadas exactas de la finca, no por región.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63824"/>
            <a:ext cx="5577840" cy="1170432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438144"/>
            <a:ext cx="146304" cy="146304"/>
          </a:xfrm>
          <a:prstGeom prst="ellipse">
            <a:avLst/>
          </a:prstGeom>
          <a:solidFill>
            <a:srgbClr val="1B4A7A"/>
          </a:solidFill>
          <a:ln w="12700">
            <a:solidFill>
              <a:srgbClr val="1B4A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0704" y="3364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Referencia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7124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real de una fuente citada, no consultado en vivo: IDEAM, Servicio Geológico Colombiano, UNGRD, DesInventar, Colfirma.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5577840" cy="1170432"/>
          </a:xfrm>
          <a:prstGeom prst="rect">
            <a:avLst/>
          </a:prstGeom>
          <a:solidFill>
            <a:srgbClr val="FAF8F3"/>
          </a:solidFill>
          <a:ln w="12700">
            <a:solidFill>
              <a:srgbClr val="CDC6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736592"/>
            <a:ext cx="146304" cy="146304"/>
          </a:xfrm>
          <a:prstGeom prst="ellipse">
            <a:avLst/>
          </a:prstGeom>
          <a:solidFill>
            <a:srgbClr val="A8710C"/>
          </a:solidFill>
          <a:ln w="12700">
            <a:solidFill>
              <a:srgbClr val="A871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60704" y="4663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Ilustrativo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0109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Inventado para la demostración. Las cifras de la empresa demo son de este tipo, y la plataforma lo dice en la misma pantalla donde las muestra.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887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kairos-prototipo.vercel.app</a:t>
            </a:r>
            <a:endParaRPr lang="en-US" sz="1500" dirty="0"/>
          </a:p>
        </p:txBody>
      </p:sp>
      <p:pic>
        <p:nvPicPr>
          <p:cNvPr id="21" name="Image 0" descr="/private/tmp/claude-501/-Users-raul-Documents-PMC-kairos-prototipo/bb49c842-2266-47b4-8ed5-76406fa3c84b/scratchpad/deck/datos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865376"/>
            <a:ext cx="5212080" cy="358444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400800" y="556869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datos de la plataforma. Los sellos verdes son consultas reales hechas al abrir la pantalla.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3459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Kairos · Pitch No. 2 · Grupo 1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725912" y="63459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40000">
            <a:off x="548640" y="548640"/>
            <a:ext cx="105156" cy="457200"/>
          </a:xfrm>
          <a:prstGeom prst="roundRect">
            <a:avLst>
              <a:gd name="adj" fmla="val 17391"/>
            </a:avLst>
          </a:prstGeom>
          <a:solidFill>
            <a:srgbClr val="C4372A"/>
          </a:solidFill>
          <a:ln w="12700">
            <a:solidFill>
              <a:srgbClr val="C43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740664" y="548640"/>
            <a:ext cx="105156" cy="457200"/>
          </a:xfrm>
          <a:prstGeom prst="roundRect">
            <a:avLst>
              <a:gd name="adj" fmla="val 17391"/>
            </a:avLst>
          </a:prstGeom>
          <a:solidFill>
            <a:srgbClr val="A8710C"/>
          </a:solidFill>
          <a:ln w="12700">
            <a:solidFill>
              <a:srgbClr val="A871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" y="548640"/>
            <a:ext cx="105156" cy="457200"/>
          </a:xfrm>
          <a:prstGeom prst="roundRect">
            <a:avLst>
              <a:gd name="adj" fmla="val 17391"/>
            </a:avLst>
          </a:prstGeom>
          <a:solidFill>
            <a:srgbClr val="3D9168"/>
          </a:solidFill>
          <a:ln w="12700">
            <a:solidFill>
              <a:srgbClr val="3D91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A87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 J · LA SOLUCIÓN ES INNOVADORA — FACTOR WOW!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3327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0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Permitimos la simulación real de desastres naturales y centralizamos el monitoreo del medio ambiente.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3483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A87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CRECE EN EL TIEMPO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3483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nuevo y cada evento registrado alimentan el modelo y lo hacen más preciso. La ventaja se acumula: el que llega después empieza sin historia.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52544" y="3794760"/>
            <a:ext cx="3483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A87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HACIA DÓNDE ESCALA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352544" y="4114800"/>
            <a:ext cx="3483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otros cuatro sectores, y a servicios que hoy no existen en el mercado local: seguros paramétricos que se activan solos cuando se cumple el umbral.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156448" y="3794760"/>
            <a:ext cx="3483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A87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SIGUE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156448" y="4114800"/>
            <a:ext cx="3483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8 a 10 entrevistas para cerrar la evidencia de disposición a pagar, y calibrar las probabilidades contra los registros de la UNGRD y DesInventar.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kairos-prototipo.vercel.app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Kairos — Pitch No. 2</dc:title>
  <dc:subject>PptxGenJS Presentation</dc:subject>
  <dc:creator>Grupo 1 — ISIS 2007</dc:creator>
  <cp:lastModifiedBy>Grupo 1 — ISIS 2007</cp:lastModifiedBy>
  <cp:revision>1</cp:revision>
  <dcterms:created xsi:type="dcterms:W3CDTF">2026-09-09T17:22:48Z</dcterms:created>
  <dcterms:modified xsi:type="dcterms:W3CDTF">2026-09-09T17:22:48Z</dcterms:modified>
</cp:coreProperties>
</file>